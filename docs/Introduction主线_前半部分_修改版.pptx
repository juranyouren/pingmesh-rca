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db2ce3408e4885" /><Relationship Type="http://schemas.openxmlformats.org/officeDocument/2006/relationships/extended-properties" Target="/docProps/app.xml" Id="Rabc6a23d386343fb" /><Relationship Type="http://schemas.openxmlformats.org/officeDocument/2006/relationships/officeDocument" Target="/ppt/presentation.xml" Id="R6ef271aee88548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3a32b0b36c4229"/>
  </p:sldMasterIdLst>
  <p:notesMasterIdLst>
    <p:notesMasterId xmlns:r="http://schemas.openxmlformats.org/officeDocument/2006/relationships" r:id="R6ef2aec976a84ec5"/>
  </p:notesMasterIdLst>
  <p:sldIdLst>
    <p:sldId xmlns:r="http://schemas.openxmlformats.org/officeDocument/2006/relationships" id="256" r:id="Ra82fb3b30a1049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7fa42c7b6a4c64" /><Relationship Type="http://schemas.openxmlformats.org/officeDocument/2006/relationships/slideMaster" Target="/ppt/slideMasters/slideMaster1.xml" Id="Ra03a32b0b36c4229" /><Relationship Type="http://schemas.openxmlformats.org/officeDocument/2006/relationships/notesMaster" Target="/ppt/notesMasters/notesMaster1.xml" Id="R6ef2aec976a84ec5" /><Relationship Type="http://schemas.openxmlformats.org/officeDocument/2006/relationships/presProps" Target="/ppt/presProps.xml" Id="Rafcdeb470dd44382" /><Relationship Type="http://schemas.openxmlformats.org/officeDocument/2006/relationships/tableStyles" Target="/ppt/tableStyles.xml" Id="R377b271b15fa404c" /><Relationship Type="http://schemas.openxmlformats.org/officeDocument/2006/relationships/slide" Target="/ppt/slides/slide1.xml" Id="Ra82fb3b30a1049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1145bea9f4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256b8a4f9b44d9" /><Relationship Type="http://schemas.openxmlformats.org/officeDocument/2006/relationships/notesMaster" Target="/ppt/notesMasters/notesMaster1.xml" Id="Rdca39a54b5a446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汇报顺序：Motivation → Existing Solutions → Research Gap → Challenges。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讲述主线：</a:t>
            </a:r>
          </a:p>
          <a:p xmlns:a="http://schemas.openxmlformats.org/drawingml/2006/main">
            <a:r>
              <a:t>1. Pingmesh 可以检测受影响端点，但无法直接给出物理根因。</a:t>
            </a:r>
          </a:p>
          <a:p xmlns:a="http://schemas.openxmlformats.org/drawingml/2006/main">
            <a:r>
              <a:t>2. 已有方法依次通过增强观测、证据聚合和关系解释缩小诊断缺口。</a:t>
            </a:r>
          </a:p>
          <a:p xmlns:a="http://schemas.openxmlformats.org/drawingml/2006/main">
            <a:r>
              <a:t>3. 三类方法分别受部署条件、输出形式和证据冲突限制。</a:t>
            </a:r>
          </a:p>
          <a:p xmlns:a="http://schemas.openxmlformats.org/drawingml/2006/main">
            <a:r>
              <a:t>4. 因此引出三个研究挑战：少 case、复杂交互、有限可核验性。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manuscript: D:\DESKTOP\aiops\华为DCN&amp;数通\pingmeshPaper\docs\Introduction_ART叙事版.md</a:t>
            </a:r>
          </a:p>
          <a:p xmlns:a="http://schemas.openxmlformats.org/drawingml/2006/main">
            <a:r>
              <a:t>- R-Pingmesh: https://dl.acm.org/doi/10.1145/3651890.3672264</a:t>
            </a:r>
          </a:p>
          <a:p xmlns:a="http://schemas.openxmlformats.org/drawingml/2006/main">
            <a:r>
              <a:t>- Eadro: https://ieeexplore.ieee.org/document/10172617/</a:t>
            </a:r>
          </a:p>
          <a:p xmlns:a="http://schemas.openxmlformats.org/drawingml/2006/main">
            <a:r>
              <a:t>- MicroRank: https://dl.acm.org/doi/10.1145/3442381.3449905</a:t>
            </a:r>
          </a:p>
          <a:p xmlns:a="http://schemas.openxmlformats.org/drawingml/2006/main">
            <a:r>
              <a:t>- MULAN: https://dl.acm.org/doi/10.1145/3589334.3645442</a:t>
            </a:r>
          </a:p>
          <a:p xmlns:a="http://schemas.openxmlformats.org/drawingml/2006/main">
            <a:r>
              <a:t>- Nezha: https://dl.acm.org/doi/10.1145/3611643.3616249</a:t>
            </a:r>
          </a:p>
          <a:p xmlns:a="http://schemas.openxmlformats.org/drawingml/2006/main">
            <a:r>
              <a:t>- FaultInsight: https://dl.acm.org/doi/10.1145/3637528.3672051</a:t>
            </a:r>
          </a:p>
          <a:p xmlns:a="http://schemas.openxmlformats.org/drawingml/2006/main">
            <a:r>
              <a:t>- NetEventCause: https://doi.org/10.1109/TNNLS.2025.3574316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b61b834414d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efa33eaf1946ec" /><Relationship Type="http://schemas.openxmlformats.org/officeDocument/2006/relationships/slideLayout" Target="/ppt/slideLayouts/slideLayout1.xml" Id="R9f44b1cc4cb84c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44b1cc4cb84c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da36119cf4772" /><Relationship Type="http://schemas.openxmlformats.org/officeDocument/2006/relationships/notesSlide" Target="/ppt/notesSlides/notesSlide1.xml" Id="R791d9b23cdf64f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6E6B05-5BE2-4898-B83C-CD8186C4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1143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Detection is not Diagnosis：从端到端异常到可核验根因诊断</a:t>
            </a:r>
          </a:p>
        </p:txBody>
      </p:sp>
      <p:sp>
        <p:nvSpPr>
          <p:cNvPr id="2" name="narrative-line">
            <a:extLst xmlns:a="http://schemas.openxmlformats.org/drawingml/2006/main">
              <a:ext uri="{FF2B5EF4-FFF2-40B4-BE49-F238E27FC236}">
                <a16:creationId xmlns:a16="http://schemas.microsoft.com/office/drawing/2014/main" id="{5C743B36-BF04-498A-ADFF-14CBACC9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Detection  →  Evidence Aggregation  →  Relation Explanation  →  Verifiable Diagnosis</a:t>
            </a:r>
          </a:p>
        </p:txBody>
      </p:sp>
      <p:sp>
        <p:nvSpPr>
          <p:cNvPr id="3" name="motivation">
            <a:extLst xmlns:a="http://schemas.openxmlformats.org/drawingml/2006/main">
              <a:ext uri="{FF2B5EF4-FFF2-40B4-BE49-F238E27FC236}">
                <a16:creationId xmlns:a16="http://schemas.microsoft.com/office/drawing/2014/main" id="{F14EC51E-0343-4A6A-A95F-110FF056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28700"/>
            <a:ext cx="37147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6667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A1B78"/>
                </a:solidFill>
                <a:latin typeface="Microsoft YaHei"/>
                <a:ea typeface="Microsoft YaHei"/>
                <a:cs typeface="Microsoft YaHei"/>
              </a:rPr>
              <a:t>1  Motivation</a:t>
            </a:r>
          </a:p>
          <a:p xmlns:a="http://schemas.openxmlformats.org/drawingml/2006/main">
            <a:pPr algn="l">
              <a:spcAft>
                <a:spcPts val="7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大型 Clos/ECMP 数据中心中，一处链路、设备或协议异常可能影响多条业务流，最终表现为端到端时延升高或丢包。</a:t>
            </a:r>
          </a:p>
          <a:p xmlns:a="http://schemas.openxmlformats.org/drawingml/2006/main">
            <a:pPr algn="l">
              <a:spcAft>
                <a:spcPts val="8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Pingmesh 能持续发现受影响的源—目的端；但在缺少路径级遥测时，ECMP 使实际内部路径不可见，端到端症状无法直接对应物理根因。</a:t>
            </a:r>
          </a:p>
          <a:p xmlns:a="http://schemas.openxmlformats.org/drawingml/2006/main">
            <a:pPr algn="l">
              <a:spcAft>
                <a:spcPts val="3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生产诊断还必须回答：</a:t>
            </a:r>
          </a:p>
          <a:p xmlns:a="http://schemas.openxmlformats.org/drawingml/2006/main">
            <a:pPr algn="l">
              <a:spcAft>
                <a:spcPts val="2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① 哪台设备最可能是根因？</a:t>
            </a:r>
          </a:p>
          <a:p xmlns:a="http://schemas.openxmlformats.org/drawingml/2006/main">
            <a:pPr algn="l">
              <a:spcAft>
                <a:spcPts val="0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② 该候选能否解释当前 case 中分散出现的异常？</a:t>
            </a:r>
          </a:p>
        </p:txBody>
      </p:sp>
      <p:sp>
        <p:nvSpPr>
          <p:cNvPr id="4" name="existing-gap">
            <a:extLst xmlns:a="http://schemas.openxmlformats.org/drawingml/2006/main">
              <a:ext uri="{FF2B5EF4-FFF2-40B4-BE49-F238E27FC236}">
                <a16:creationId xmlns:a16="http://schemas.microsoft.com/office/drawing/2014/main" id="{00E7DC3D-D968-4A4B-8738-499B01DB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028700"/>
            <a:ext cx="7572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6667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A1B78"/>
                </a:solidFill>
                <a:latin typeface="Microsoft YaHei"/>
                <a:ea typeface="Microsoft YaHei"/>
                <a:cs typeface="Microsoft YaHei"/>
              </a:rPr>
              <a:t>2.1  增强观测后进行物理定位</a:t>
            </a:r>
            <a:r>
              <a:rPr sz="1050" b="1">
                <a:solidFill>
                  <a:srgbClr val="7A1B78"/>
                </a:solidFill>
                <a:latin typeface="Microsoft YaHei"/>
                <a:ea typeface="Microsoft YaHei"/>
                <a:cs typeface="Microsoft YaHei"/>
              </a:rPr>
              <a:t>  Localize with Added Observability</a:t>
            </a:r>
          </a:p>
          <a:p xmlns:a="http://schemas.openxmlformats.org/drawingml/2006/main">
            <a:pPr algn="l">
              <a:spcAft>
                <a:spcPts val="2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R-Pingmesh、Canary、Hawkeye 和 SkeletonHunter 通过主动探测、数据平面遥测、路径编码或机制专用信号降低定位歧义。</a:t>
            </a:r>
          </a:p>
          <a:p xmlns:a="http://schemas.openxmlformats.org/drawingml/2006/main">
            <a:pPr algn="l">
              <a:spcAft>
                <a:spcPts val="0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局限：</a:t>
            </a: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大规模存量网络面临部署成本、设备兼容性与覆盖限制；未预先采集的路径证据也无法事后恢复。</a:t>
            </a:r>
          </a:p>
        </p:txBody>
      </p:sp>
      <p:sp>
        <p:nvSpPr>
          <p:cNvPr id="5" name="task-definition">
            <a:extLst xmlns:a="http://schemas.openxmlformats.org/drawingml/2006/main">
              <a:ext uri="{FF2B5EF4-FFF2-40B4-BE49-F238E27FC236}">
                <a16:creationId xmlns:a16="http://schemas.microsoft.com/office/drawing/2014/main" id="{368DAD27-8348-49E7-BFA4-74D9401F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85950"/>
            <a:ext cx="7572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6667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A1B78"/>
                </a:solidFill>
                <a:latin typeface="Microsoft YaHei"/>
                <a:ea typeface="Microsoft YaHei"/>
                <a:cs typeface="Microsoft YaHei"/>
              </a:rPr>
              <a:t>2.2  聚合多源证据进行根因排序</a:t>
            </a:r>
            <a:r>
              <a:rPr sz="1050" b="1">
                <a:solidFill>
                  <a:srgbClr val="7A1B78"/>
                </a:solidFill>
                <a:latin typeface="Microsoft YaHei"/>
                <a:ea typeface="Microsoft YaHei"/>
                <a:cs typeface="Microsoft YaHei"/>
              </a:rPr>
              <a:t>  Rank by Evidence Aggregation</a:t>
            </a:r>
          </a:p>
          <a:p xmlns:a="http://schemas.openxmlformats.org/drawingml/2006/main">
            <a:pPr algn="l">
              <a:spcAft>
                <a:spcPts val="2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TraceRCA、MicroRank 通过异常统计或图排序计算可疑度；Eadro、DiagFusion 和 GAMMA 进一步融合指标、日志、Trace 与依赖关系。</a:t>
            </a:r>
          </a:p>
          <a:p xmlns:a="http://schemas.openxmlformats.org/drawingml/2006/main">
            <a:pPr algn="l">
              <a:spcAft>
                <a:spcPts val="2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局限：</a:t>
            </a: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这些方法多面向微服务调用图及密集遥测，与 DCN 路径条件化的 Device–Event 关系不同；且排序只能回答“谁更可疑”。</a:t>
            </a:r>
          </a:p>
          <a:p xmlns:a="http://schemas.openxmlformats.org/drawingml/2006/main">
            <a:pPr algn="l">
              <a:spcAft>
                <a:spcPts val="0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生产处置还需要可核验依据、影响范围和异常机制；否则运维仍需重查告警与拓扑，排序没有完成诊断。</a:t>
            </a:r>
          </a:p>
        </p:txBody>
      </p:sp>
      <p:sp>
        <p:nvSpPr>
          <p:cNvPr id="6" name="challenge-1">
            <a:extLst xmlns:a="http://schemas.openxmlformats.org/drawingml/2006/main">
              <a:ext uri="{FF2B5EF4-FFF2-40B4-BE49-F238E27FC236}">
                <a16:creationId xmlns:a16="http://schemas.microsoft.com/office/drawing/2014/main" id="{579D08CC-66B0-44B7-B5B4-212E9DC4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90850"/>
            <a:ext cx="7572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6667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3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A1B78"/>
                </a:solidFill>
                <a:latin typeface="Microsoft YaHei"/>
                <a:ea typeface="Microsoft YaHei"/>
                <a:cs typeface="Microsoft YaHei"/>
              </a:rPr>
              <a:t>2.3  重构事件关系提供诊断解释</a:t>
            </a:r>
            <a:r>
              <a:rPr sz="1050" b="1">
                <a:solidFill>
                  <a:srgbClr val="7A1B78"/>
                </a:solidFill>
                <a:latin typeface="Microsoft YaHei"/>
                <a:ea typeface="Microsoft YaHei"/>
                <a:cs typeface="Microsoft YaHei"/>
              </a:rPr>
              <a:t>  Explain by Relation Reconstruction</a:t>
            </a:r>
          </a:p>
          <a:p xmlns:a="http://schemas.openxmlformats.org/drawingml/2006/main">
            <a:pPr algn="l">
              <a:spcAft>
                <a:spcPts val="2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MULAN、FaultInsight 和 NetEventCause 通过因果发现或事件时序建模，恢复指标、告警或异常事件之间的关系。</a:t>
            </a:r>
          </a:p>
          <a:p xmlns:a="http://schemas.openxmlformats.org/drawingml/2006/main">
            <a:pPr algn="l">
              <a:spcAft>
                <a:spcPts val="0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局限：</a:t>
            </a: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关系可靠性取决于证据是否一致。以 NetEventCause 为例，它依据告警类型、实体类型和触发时间建模，并假设原因告警先出现；检测或上报延迟可能使时间方向与告警语义、运维知识冲突，导致解释不稳定。</a:t>
            </a:r>
          </a:p>
        </p:txBody>
      </p:sp>
      <p:sp>
        <p:nvSpPr>
          <p:cNvPr id="7" name="challenge-2">
            <a:extLst xmlns:a="http://schemas.openxmlformats.org/drawingml/2006/main">
              <a:ext uri="{FF2B5EF4-FFF2-40B4-BE49-F238E27FC236}">
                <a16:creationId xmlns:a16="http://schemas.microsoft.com/office/drawing/2014/main" id="{70BCB7B1-CC0B-4A75-867D-2BC6F571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38600"/>
            <a:ext cx="1143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7FC"/>
          </a:solidFill>
          <a:ln xmlns:a="http://schemas.openxmlformats.org/drawingml/2006/main" w="9525">
            <a:solidFill>
              <a:srgbClr val="D9C5D8"/>
            </a:solidFill>
            <a:prstDash val="solid"/>
          </a:ln>
        </p:spPr>
        <p:txBody>
          <a:bodyPr xmlns:a="http://schemas.openxmlformats.org/drawingml/2006/main" wrap="square" lIns="114300" tIns="9525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Research Gap｜</a:t>
            </a: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在固定且不完整的 DCN 观测下，现有方法仍难同时实现可靠的根因候选识别，以及在多源证据缺失或冲突时形成可核验的诊断解释。</a:t>
            </a:r>
          </a:p>
        </p:txBody>
      </p:sp>
      <p:sp>
        <p:nvSpPr>
          <p:cNvPr id="8" name="challenge-3">
            <a:extLst xmlns:a="http://schemas.openxmlformats.org/drawingml/2006/main">
              <a:ext uri="{FF2B5EF4-FFF2-40B4-BE49-F238E27FC236}">
                <a16:creationId xmlns:a16="http://schemas.microsoft.com/office/drawing/2014/main" id="{076D4044-26DE-46CA-A8C7-60D3FF49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72050"/>
            <a:ext cx="36004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6667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Challenge 1  Sparse Cases, Dense Information</a:t>
            </a:r>
          </a:p>
          <a:p xmlns:a="http://schemas.openxmlformats.org/drawingml/2006/main">
            <a:pPr algn="l">
              <a:spcAft>
                <a:spcPts val="0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生产故障 case 少、根因标签昂贵，但单个 case 内设备、事件和关系密集。节点多不等于独立根因样本；仅依赖 case 级标签训练，容易记忆特定端点、告警和拓扑模式并产生过拟合。</a:t>
            </a:r>
          </a:p>
        </p:txBody>
      </p:sp>
      <p:sp>
        <p:nvSpPr>
          <p:cNvPr id="9" name="key-observations">
            <a:extLst xmlns:a="http://schemas.openxmlformats.org/drawingml/2006/main">
              <a:ext uri="{FF2B5EF4-FFF2-40B4-BE49-F238E27FC236}">
                <a16:creationId xmlns:a16="http://schemas.microsoft.com/office/drawing/2014/main" id="{DC129401-A77C-4287-9CF5-86EBF2DE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972050"/>
            <a:ext cx="37338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6667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Challenge 2  Complex Multidimensional Evidence</a:t>
            </a:r>
          </a:p>
          <a:p xmlns:a="http://schemas.openxmlformats.org/drawingml/2006/main">
            <a:pPr algn="l">
              <a:spcAft>
                <a:spcPts val="0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根因判断取决于拓扑位置 × 告警语义 × 事件时序 × 设备状态。证据作用具有条件性和非线性交互，人工规则、固定权重或简单聚合难以表达随 case 变化的联合关系。</a:t>
            </a:r>
          </a:p>
        </p:txBody>
      </p:sp>
      <p:sp>
        <p:nvSpPr>
          <p:cNvPr id="10" name="stage-1">
            <a:extLst xmlns:a="http://schemas.openxmlformats.org/drawingml/2006/main">
              <a:ext uri="{FF2B5EF4-FFF2-40B4-BE49-F238E27FC236}">
                <a16:creationId xmlns:a16="http://schemas.microsoft.com/office/drawing/2014/main" id="{46E6AA4A-3258-4F93-AC5A-7FC369D6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72050"/>
            <a:ext cx="3848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6667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Challenge 3  Limited Diagnostic Verifiability</a:t>
            </a:r>
          </a:p>
          <a:p xmlns:a="http://schemas.openxmlformats.org/drawingml/2006/main">
            <a:pPr algn="l">
              <a:spcAft>
                <a:spcPts val="0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根因排序缺少可核验依据；而告警缺失或延迟、时间重叠、语义冲突和 ECMP 又会使关系方向产生歧义。因此，解释重构本身也面临不完整和相互冲突的诊断证据。</a:t>
            </a:r>
          </a:p>
        </p:txBody>
      </p:sp>
      <p:sp>
        <p:nvSpPr>
          <p:cNvPr id="11" name="stage-2">
            <a:extLst xmlns:a="http://schemas.openxmlformats.org/drawingml/2006/main">
              <a:ext uri="{FF2B5EF4-FFF2-40B4-BE49-F238E27FC236}">
                <a16:creationId xmlns:a16="http://schemas.microsoft.com/office/drawing/2014/main" id="{78FA7D9E-33B1-443F-9791-ED5E9BB8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95825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A1B78"/>
                </a:solidFill>
                <a:latin typeface="Microsoft YaHei"/>
                <a:ea typeface="Microsoft YaHei"/>
                <a:cs typeface="Microsoft YaHei"/>
              </a:rPr>
              <a:t>3  Challenges</a:t>
            </a:r>
          </a:p>
        </p:txBody>
      </p:sp>
    </p:spTree>
    <p:extLst>
      <p:ext uri="{BB962C8B-B14F-4D97-AF65-F5344CB8AC3E}">
        <p14:creationId xmlns:p14="http://schemas.microsoft.com/office/powerpoint/2010/main" val="1529374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2026-08-26T08:09:32.2450000Z</dcterms:created>
  <dcterms:modified xsi:type="dcterms:W3CDTF">2026-08-26T08:09:32.2450000Z</dcterms:modified>
</coreProperties>
</file>