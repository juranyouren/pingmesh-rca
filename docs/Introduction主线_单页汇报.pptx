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4bdc1dcd64832" /><Relationship Type="http://schemas.openxmlformats.org/officeDocument/2006/relationships/extended-properties" Target="/docProps/app.xml" Id="Raeed444d00914cea" /><Relationship Type="http://schemas.openxmlformats.org/officeDocument/2006/relationships/officeDocument" Target="/ppt/presentation.xml" Id="Rae2d4d9fe68843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479f968f4a4c8a"/>
  </p:sldMasterIdLst>
  <p:notesMasterIdLst>
    <p:notesMasterId xmlns:r="http://schemas.openxmlformats.org/officeDocument/2006/relationships" r:id="R97a6adcf6b9243cb"/>
  </p:notesMasterIdLst>
  <p:sldIdLst>
    <p:sldId xmlns:r="http://schemas.openxmlformats.org/officeDocument/2006/relationships" id="256" r:id="R7f3676bc6b9f43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d2b3fcfa44328" /><Relationship Type="http://schemas.openxmlformats.org/officeDocument/2006/relationships/slideMaster" Target="/ppt/slideMasters/slideMaster1.xml" Id="R4c479f968f4a4c8a" /><Relationship Type="http://schemas.openxmlformats.org/officeDocument/2006/relationships/notesMaster" Target="/ppt/notesMasters/notesMaster1.xml" Id="R97a6adcf6b9243cb" /><Relationship Type="http://schemas.openxmlformats.org/officeDocument/2006/relationships/presProps" Target="/ppt/presProps.xml" Id="Rda14edb62b694bc0" /><Relationship Type="http://schemas.openxmlformats.org/officeDocument/2006/relationships/tableStyles" Target="/ppt/tableStyles.xml" Id="Rb58132eaac334a3b" /><Relationship Type="http://schemas.openxmlformats.org/officeDocument/2006/relationships/slide" Target="/ppt/slides/slide1.xml" Id="R7f3676bc6b9f43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83c7d982e4a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b4e58c6804e05" /><Relationship Type="http://schemas.openxmlformats.org/officeDocument/2006/relationships/notesMaster" Target="/ppt/notesMasters/notesMaster1.xml" Id="R5f4b6c348668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汇报顺序：Motivation → 现有方案与缺口 → 本文任务 → 三项挑战 → 两个关键观察 → 两阶段方法 → 最终输出。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manuscript: D:\DESKTOP\aiops\华为DCN&amp;数通\pingmeshPaper\docs\Introduction_ART叙事版.md</a:t>
            </a:r>
          </a:p>
          <a:p xmlns:a="http://schemas.openxmlformats.org/drawingml/2006/main">
            <a:r>
              <a:t>- Pingmesh: https://dl.acm.org/doi/10.1145/2785956.2787496</a:t>
            </a:r>
          </a:p>
          <a:p xmlns:a="http://schemas.openxmlformats.org/drawingml/2006/main">
            <a:r>
              <a:t>- R-Pingmesh: https://dl.acm.org/doi/10.1145/3651890.3672264</a:t>
            </a:r>
          </a:p>
          <a:p xmlns:a="http://schemas.openxmlformats.org/drawingml/2006/main">
            <a:r>
              <a:t>- Eadro: https://ieeexplore.ieee.org/document/10172617/</a:t>
            </a:r>
          </a:p>
          <a:p xmlns:a="http://schemas.openxmlformats.org/drawingml/2006/main">
            <a:r>
              <a:t>- MULAN: https://dl.acm.org/doi/10.1145/3589334.3645442</a:t>
            </a:r>
          </a:p>
          <a:p xmlns:a="http://schemas.openxmlformats.org/drawingml/2006/main">
            <a:r>
              <a:t>- Nezha: https://dl.acm.org/doi/10.1145/3611643.3616249</a:t>
            </a:r>
          </a:p>
          <a:p xmlns:a="http://schemas.openxmlformats.org/drawingml/2006/main">
            <a:r>
              <a:t>- FaultInsight: https://dl.acm.org/doi/10.1145/3637528.3672051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530edf44040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9baa764c345f7" /><Relationship Type="http://schemas.openxmlformats.org/officeDocument/2006/relationships/slideLayout" Target="/ppt/slideLayouts/slideLayout1.xml" Id="Re39b11de7e1f48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9b11de7e1f48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6f0481f6e4b25" /><Relationship Type="http://schemas.openxmlformats.org/officeDocument/2006/relationships/notesSlide" Target="/ppt/notesSlides/notesSlide1.xml" Id="R6fcd2e4e2b8449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6E6B05-5BE2-4898-B83C-CD8186C4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Pingmesh 能发现异常，但根因诊断还需要传播证据</a:t>
            </a:r>
          </a:p>
        </p:txBody>
      </p:sp>
      <p:sp>
        <p:nvSpPr>
          <p:cNvPr id="2" name="narrative-line">
            <a:extLst xmlns:a="http://schemas.openxmlformats.org/drawingml/2006/main">
              <a:ext uri="{FF2B5EF4-FFF2-40B4-BE49-F238E27FC236}">
                <a16:creationId xmlns:a16="http://schemas.microsoft.com/office/drawing/2014/main" id="{5C743B36-BF04-498A-ADFF-14CBACC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Detection is not Diagnosis  →  Candidate Learning  →  Propagation Verification  →  Verifiable Diagnosis</a:t>
            </a:r>
          </a:p>
        </p:txBody>
      </p:sp>
      <p:sp>
        <p:nvSpPr>
          <p:cNvPr id="3" name="motivation">
            <a:extLst xmlns:a="http://schemas.openxmlformats.org/drawingml/2006/main">
              <a:ext uri="{FF2B5EF4-FFF2-40B4-BE49-F238E27FC236}">
                <a16:creationId xmlns:a16="http://schemas.microsoft.com/office/drawing/2014/main" id="{F14EC51E-0343-4A6A-A95F-110FF05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"/>
            <a:ext cx="36004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 Motivation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Clos/ECMP 环境中，链路、设备或协议异常最终表现为端到端时延或丢包。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Pingmesh 能发现受影响的源—目的端，但 ECMP 隐藏内部路径，端到端症状不能直接指向物理根因。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生产诊断必须继续回答：谁是根因？该候选能否解释当前 case 的分散观测？</a:t>
            </a:r>
          </a:p>
        </p:txBody>
      </p:sp>
      <p:sp>
        <p:nvSpPr>
          <p:cNvPr id="4" name="existing-gap">
            <a:extLst xmlns:a="http://schemas.openxmlformats.org/drawingml/2006/main">
              <a:ext uri="{FF2B5EF4-FFF2-40B4-BE49-F238E27FC236}">
                <a16:creationId xmlns:a16="http://schemas.microsoft.com/office/drawing/2014/main" id="{00E7DC3D-D968-4A4B-8738-499B01D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962025"/>
            <a:ext cx="43910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  Existing Solutions &amp; Gap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主动探测/路径诊断：发现异常、缩小范围
  Pingmesh；R‑Pingmesh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多模态 RCA：融合多源观测并输出根因排序
  Eadro；MULAN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可解释诊断：提供特征贡献或事件关系
  Nezha；FaultInsight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Gap：仍缺少设备级、拓扑约束且证据可回溯的传播解释。</a:t>
            </a:r>
          </a:p>
        </p:txBody>
      </p:sp>
      <p:sp>
        <p:nvSpPr>
          <p:cNvPr id="5" name="task-definition">
            <a:extLst xmlns:a="http://schemas.openxmlformats.org/drawingml/2006/main">
              <a:ext uri="{FF2B5EF4-FFF2-40B4-BE49-F238E27FC236}">
                <a16:creationId xmlns:a16="http://schemas.microsoft.com/office/drawing/2014/main" id="{368DAD27-8348-49E7-BFA4-74D9401F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62025"/>
            <a:ext cx="31908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  Our Task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Evidence-Verifiable Root Cause Diagnosis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输入：异常端点 + case 拓扑 + 告警/日志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输出：根因排序 + 传播假设 DAG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要求：拓扑合法、候选根可达、证据可回溯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传播是多维证据支持的影响假设，并非未经验证的真实因果链。</a:t>
            </a:r>
          </a:p>
        </p:txBody>
      </p:sp>
      <p:sp>
        <p:nvSpPr>
          <p:cNvPr id="6" name="challenge-1">
            <a:extLst xmlns:a="http://schemas.openxmlformats.org/drawingml/2006/main">
              <a:ext uri="{FF2B5EF4-FFF2-40B4-BE49-F238E27FC236}">
                <a16:creationId xmlns:a16="http://schemas.microsoft.com/office/drawing/2014/main" id="{579D08CC-66B0-44B7-B5B4-212E9DC4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71775"/>
            <a:ext cx="36004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Challenge 1  Sparse Cases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Case 数量少、根因标签昂贵，但单个 case 内设备、事件和关系密集。节点多不等于独立根因样本；仅用 case 级标签训练，容易记忆特定端点、告警和拓扑模式并过拟合。</a:t>
            </a:r>
          </a:p>
        </p:txBody>
      </p:sp>
      <p:sp>
        <p:nvSpPr>
          <p:cNvPr id="7" name="challenge-2">
            <a:extLst xmlns:a="http://schemas.openxmlformats.org/drawingml/2006/main">
              <a:ext uri="{FF2B5EF4-FFF2-40B4-BE49-F238E27FC236}">
                <a16:creationId xmlns:a16="http://schemas.microsoft.com/office/drawing/2014/main" id="{70BCB7B1-CC0B-4A75-867D-2BC6F571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71775"/>
            <a:ext cx="37338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Challenge 2  Complex Interactions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根因判断取决于拓扑位置 × 告警语义 × 事件时序 × 设备状态。证据作用具有条件性和非线性交互，人工规则、固定权重或简单聚合难以表达随 case 变化的联合关系。</a:t>
            </a:r>
          </a:p>
        </p:txBody>
      </p:sp>
      <p:sp>
        <p:nvSpPr>
          <p:cNvPr id="8" name="challenge-3">
            <a:extLst xmlns:a="http://schemas.openxmlformats.org/drawingml/2006/main">
              <a:ext uri="{FF2B5EF4-FFF2-40B4-BE49-F238E27FC236}">
                <a16:creationId xmlns:a16="http://schemas.microsoft.com/office/drawing/2014/main" id="{076D4044-26DE-46CA-A8C7-60D3FF4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71775"/>
            <a:ext cx="38481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Challenge 3  Limited Verifiability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排名只能回答“谁更可疑”，不能说明如何解释其他异常。告警缺失/延迟、时间重叠、语义冲突与 ECMP 使局部方向难以硬判；独立组合还会产生环路、反向边或根因不可达结构。</a:t>
            </a:r>
          </a:p>
        </p:txBody>
      </p:sp>
      <p:sp>
        <p:nvSpPr>
          <p:cNvPr id="9" name="key-observations">
            <a:extLst xmlns:a="http://schemas.openxmlformats.org/drawingml/2006/main">
              <a:ext uri="{FF2B5EF4-FFF2-40B4-BE49-F238E27FC236}">
                <a16:creationId xmlns:a16="http://schemas.microsoft.com/office/drawing/2014/main" id="{DC129401-A77C-4287-9CF5-86EBF2DE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95775"/>
            <a:ext cx="1143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66675" rIns="1047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Key Observations  </a:t>
            </a:r>
            <a:r>
              <a: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① Case 级标签稀疏 ≠ case 内信号稀疏：设备、事件和关系可提供图内学习约束。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                         ② 可信根因 = 高预测分数 + 能把分布式观测组织为全局一致、证据可回溯的传播假设。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46E6AA4A-3258-4F93-AC5A-7FC369D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0"/>
            <a:ext cx="550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Stage 1  Candidate Learning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图掩码自监督：利用训练折内的设备、事件和关系，补充稀疏 case 标签。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PC-STGR：路径条件化 Device–Event 时空图联合编码拓扑、语义与时序，输出 Top-K 根因先验。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回答：哪些设备值得进一步验证？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78FA7D9E-33B1-443F-9791-ED5E9BB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048250"/>
            <a:ext cx="58007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85725" rIns="104775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4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Stage 2  Propagation Verification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M1：根因无关地估计 P(A→B)、P(B→A)、P(No Direct Propagation)，保留局部方向不确定性。</a:t>
            </a:r>
          </a:p>
          <a:p xmlns:a="http://schemas.openxmlformats.org/drawingml/2006/main">
            <a:pPr marL="16" indent="-9" algn="l">
              <a:lnSpc>
                <a:spcPct val="96000"/>
              </a:lnSpc>
              <a:spcAft>
                <a:spcPts val="2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M2：分别以候选为根，在拓扑、方向、可达与无环约束下求解传播 DAG，并用解释分数验证和重排。</a:t>
            </a:r>
          </a:p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回答：候选能否解释本次故障？</a:t>
            </a:r>
          </a:p>
        </p:txBody>
      </p:sp>
      <p:sp>
        <p:nvSpPr>
          <p:cNvPr id="12" name="final-outcome">
            <a:extLst xmlns:a="http://schemas.openxmlformats.org/drawingml/2006/main">
              <a:ext uri="{FF2B5EF4-FFF2-40B4-BE49-F238E27FC236}">
                <a16:creationId xmlns:a16="http://schemas.microsoft.com/office/drawing/2014/main" id="{3EC22168-1543-4809-B449-7C72B832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最终输出：</a:t>
            </a: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根因排序 + 拓扑合法、根因可达、证据可回溯的传播假设 DAG</a:t>
            </a:r>
            <a:r>
              <a:rPr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  ｜  用独立工程证据进行外部诊断验证，而非还原 PC-STGR 的内部推理。</a:t>
            </a:r>
          </a:p>
        </p:txBody>
      </p:sp>
    </p:spTree>
    <p:extLst>
      <p:ext uri="{BB962C8B-B14F-4D97-AF65-F5344CB8AC3E}">
        <p14:creationId xmlns:p14="http://schemas.microsoft.com/office/powerpoint/2010/main" val="1529374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2026-08-25T07:13:08.2040000Z</dcterms:created>
  <dcterms:modified xsi:type="dcterms:W3CDTF">2026-08-25T07:13:08.2040000Z</dcterms:modified>
</coreProperties>
</file>